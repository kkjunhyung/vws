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23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696-F620-4B0F-9A0D-E9225C837496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1410A-E57E-4D6E-B279-E7BC6DA2CD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240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696-F620-4B0F-9A0D-E9225C837496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1410A-E57E-4D6E-B279-E7BC6DA2CD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09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696-F620-4B0F-9A0D-E9225C837496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1410A-E57E-4D6E-B279-E7BC6DA2CD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093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696-F620-4B0F-9A0D-E9225C837496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1410A-E57E-4D6E-B279-E7BC6DA2CD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068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696-F620-4B0F-9A0D-E9225C837496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1410A-E57E-4D6E-B279-E7BC6DA2CD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840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696-F620-4B0F-9A0D-E9225C837496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1410A-E57E-4D6E-B279-E7BC6DA2CD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6283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696-F620-4B0F-9A0D-E9225C837496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1410A-E57E-4D6E-B279-E7BC6DA2CD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6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696-F620-4B0F-9A0D-E9225C837496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1410A-E57E-4D6E-B279-E7BC6DA2CD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993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696-F620-4B0F-9A0D-E9225C837496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1410A-E57E-4D6E-B279-E7BC6DA2CD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880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696-F620-4B0F-9A0D-E9225C837496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1410A-E57E-4D6E-B279-E7BC6DA2CD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96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696-F620-4B0F-9A0D-E9225C837496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1410A-E57E-4D6E-B279-E7BC6DA2CD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467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09696-F620-4B0F-9A0D-E9225C837496}" type="datetimeFigureOut">
              <a:rPr lang="ko-KR" altLang="en-US" smtClean="0"/>
              <a:t>2026-04-04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1410A-E57E-4D6E-B279-E7BC6DA2CD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01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73A0192-C446-8C47-6BAF-DE6A1D26A376}"/>
              </a:ext>
            </a:extLst>
          </p:cNvPr>
          <p:cNvSpPr/>
          <p:nvPr/>
        </p:nvSpPr>
        <p:spPr>
          <a:xfrm>
            <a:off x="1056640" y="223520"/>
            <a:ext cx="4978400" cy="424688"/>
          </a:xfrm>
          <a:prstGeom prst="rect">
            <a:avLst/>
          </a:prstGeom>
          <a:solidFill>
            <a:srgbClr val="3C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US" dirty="0"/>
              <a:t>VWS(Voting Web Service)</a:t>
            </a:r>
            <a:endParaRPr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19E76B2-C1EA-4514-D261-41F9F8FD40E8}"/>
              </a:ext>
            </a:extLst>
          </p:cNvPr>
          <p:cNvSpPr/>
          <p:nvPr/>
        </p:nvSpPr>
        <p:spPr>
          <a:xfrm>
            <a:off x="1579879" y="709613"/>
            <a:ext cx="3931921" cy="35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82828"/>
                </a:solidFill>
              </a:defRPr>
            </a:pPr>
            <a:r>
              <a:rPr lang="ko-KR" altLang="en-US" sz="1200" b="1" dirty="0"/>
              <a:t>주제별 투표와 결과 시각화를 제공하는 웹 서비스</a:t>
            </a:r>
            <a:endParaRPr sz="1200" b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EEC48AB-7E6C-21E3-4E2D-699A936FEB79}"/>
              </a:ext>
            </a:extLst>
          </p:cNvPr>
          <p:cNvSpPr/>
          <p:nvPr/>
        </p:nvSpPr>
        <p:spPr>
          <a:xfrm>
            <a:off x="457200" y="1727200"/>
            <a:ext cx="6024880" cy="93614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ko-KR" altLang="en-US" sz="1200" b="1" dirty="0"/>
              <a:t> </a:t>
            </a:r>
            <a:r>
              <a:rPr lang="ko-KR" altLang="en-US" sz="1200" dirty="0"/>
              <a:t>본 졸업 작품 프로젝트는 다양한 주제에 대해 사용자가 투표를 진행하고</a:t>
            </a:r>
            <a:r>
              <a:rPr lang="en-US" altLang="ko-KR" sz="1200" dirty="0"/>
              <a:t>, </a:t>
            </a:r>
            <a:r>
              <a:rPr lang="ko-KR" altLang="en-US" sz="1200" dirty="0"/>
              <a:t>그 결과를 시각적으로 확인할 수 있는 웹 기반 투표 시스템입니다</a:t>
            </a:r>
            <a:r>
              <a:rPr lang="en-US" altLang="ko-KR" sz="1200" dirty="0"/>
              <a:t>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lang="ko-KR" altLang="en-US" sz="1200" dirty="0"/>
              <a:t>단순 투표 기능을 넘어</a:t>
            </a:r>
            <a:r>
              <a:rPr lang="en-US" altLang="ko-KR" sz="1200" dirty="0"/>
              <a:t>, </a:t>
            </a:r>
            <a:r>
              <a:rPr lang="ko-KR" altLang="en-US" sz="1200" dirty="0"/>
              <a:t>투표 제한</a:t>
            </a:r>
            <a:r>
              <a:rPr lang="en-US" altLang="ko-KR" sz="1200" dirty="0"/>
              <a:t>, </a:t>
            </a:r>
            <a:r>
              <a:rPr lang="ko-KR" altLang="en-US" sz="1200" dirty="0"/>
              <a:t>공동 순위 계산</a:t>
            </a:r>
            <a:r>
              <a:rPr lang="en-US" altLang="ko-KR" sz="1200" dirty="0"/>
              <a:t>, </a:t>
            </a:r>
            <a:r>
              <a:rPr lang="ko-KR" altLang="en-US" sz="1200" dirty="0"/>
              <a:t>관리자 </a:t>
            </a:r>
            <a:r>
              <a:rPr lang="en-US" altLang="ko-KR" sz="1200" dirty="0"/>
              <a:t>UI </a:t>
            </a:r>
            <a:r>
              <a:rPr lang="ko-KR" altLang="en-US" sz="1200" dirty="0"/>
              <a:t>개선</a:t>
            </a:r>
            <a:r>
              <a:rPr lang="en-US" altLang="ko-KR" sz="1200" dirty="0"/>
              <a:t>, </a:t>
            </a:r>
            <a:r>
              <a:rPr lang="ko-KR" altLang="en-US" sz="1200" dirty="0"/>
              <a:t>데이터 시각화</a:t>
            </a:r>
            <a:r>
              <a:rPr lang="en-US" altLang="ko-KR" sz="1200" dirty="0"/>
              <a:t> </a:t>
            </a:r>
            <a:r>
              <a:rPr lang="ko-KR" altLang="en-US" sz="1200" dirty="0"/>
              <a:t>등의 기능을 포함하여 실제 서비스 수준의 구조를 목표로 개발하였습니다</a:t>
            </a:r>
            <a:r>
              <a:rPr lang="en-US" altLang="ko-KR" sz="1200" dirty="0"/>
              <a:t>.</a:t>
            </a:r>
            <a:endParaRPr sz="1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03962BE-DC7F-7AE1-FDD9-A35399F1226F}"/>
              </a:ext>
            </a:extLst>
          </p:cNvPr>
          <p:cNvSpPr/>
          <p:nvPr/>
        </p:nvSpPr>
        <p:spPr>
          <a:xfrm>
            <a:off x="457200" y="2818673"/>
            <a:ext cx="1105543" cy="375920"/>
          </a:xfrm>
          <a:prstGeom prst="rect">
            <a:avLst/>
          </a:prstGeom>
          <a:solidFill>
            <a:srgbClr val="3C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1600" dirty="0" err="1"/>
              <a:t>작품</a:t>
            </a:r>
            <a:r>
              <a:rPr sz="1600" dirty="0"/>
              <a:t> </a:t>
            </a:r>
            <a:r>
              <a:rPr sz="1600" dirty="0" err="1"/>
              <a:t>시연</a:t>
            </a:r>
            <a:endParaRPr sz="1600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C02320F-13E0-EAFC-15F9-8EC68EA15703}"/>
              </a:ext>
            </a:extLst>
          </p:cNvPr>
          <p:cNvGrpSpPr/>
          <p:nvPr/>
        </p:nvGrpSpPr>
        <p:grpSpPr>
          <a:xfrm>
            <a:off x="504450" y="3291840"/>
            <a:ext cx="5786487" cy="2641600"/>
            <a:chOff x="776873" y="1645920"/>
            <a:chExt cx="10653126" cy="4572000"/>
          </a:xfrm>
        </p:grpSpPr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D8B03C4C-2ED8-BCA7-C163-FD64C91549C3}"/>
                </a:ext>
              </a:extLst>
            </p:cNvPr>
            <p:cNvSpPr/>
            <p:nvPr/>
          </p:nvSpPr>
          <p:spPr>
            <a:xfrm>
              <a:off x="5939406" y="1645920"/>
              <a:ext cx="5490593" cy="4572000"/>
            </a:xfrm>
            <a:prstGeom prst="rect">
              <a:avLst/>
            </a:prstGeom>
            <a:solidFill>
              <a:srgbClr val="FFFF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800">
                  <a:solidFill>
                    <a:srgbClr val="282828"/>
                  </a:solidFill>
                </a:defRPr>
              </a:pPr>
              <a:r>
                <a:rPr lang="en-US" altLang="ko-KR" sz="1200" b="1" dirty="0"/>
                <a:t>1. </a:t>
              </a:r>
              <a:r>
                <a:rPr lang="ko-KR" altLang="en-US" sz="1200" b="1" dirty="0" err="1"/>
                <a:t>투표창</a:t>
              </a:r>
              <a:r>
                <a:rPr lang="ko-KR" altLang="en-US" sz="1200" b="1" dirty="0"/>
                <a:t> 직접 개설</a:t>
              </a:r>
              <a:endParaRPr lang="en-US" altLang="ko-KR" sz="1200" b="1" dirty="0"/>
            </a:p>
            <a:p>
              <a:pPr algn="ctr">
                <a:defRPr sz="1800">
                  <a:solidFill>
                    <a:srgbClr val="282828"/>
                  </a:solidFill>
                </a:defRPr>
              </a:pPr>
              <a:endParaRPr lang="en-US" sz="1200" dirty="0"/>
            </a:p>
            <a:p>
              <a:pPr algn="ctr">
                <a:defRPr sz="1800">
                  <a:solidFill>
                    <a:srgbClr val="282828"/>
                  </a:solidFill>
                </a:defRPr>
              </a:pPr>
              <a:r>
                <a:rPr lang="ko-KR" altLang="en-US" sz="1100" dirty="0"/>
                <a:t>웹 서비스 이용자는 투표 주제와 항목을 직접 개설할 수 있습니다</a:t>
              </a:r>
              <a:r>
                <a:rPr lang="en-US" altLang="ko-KR" sz="1100" dirty="0"/>
                <a:t>.</a:t>
              </a:r>
            </a:p>
            <a:p>
              <a:pPr algn="ctr">
                <a:defRPr sz="1800">
                  <a:solidFill>
                    <a:srgbClr val="282828"/>
                  </a:solidFill>
                </a:defRPr>
              </a:pPr>
              <a:r>
                <a:rPr lang="en-US" altLang="ko-KR" sz="1100" dirty="0"/>
                <a:t> </a:t>
              </a:r>
              <a:r>
                <a:rPr lang="ko-KR" altLang="en-US" sz="1100" dirty="0"/>
                <a:t>투표 항목에 대한 투표 인원 설정</a:t>
              </a:r>
              <a:r>
                <a:rPr lang="en-US" altLang="ko-KR" sz="1100" dirty="0"/>
                <a:t>, </a:t>
              </a:r>
              <a:r>
                <a:rPr lang="ko-KR" altLang="en-US" sz="1100" dirty="0"/>
                <a:t>설명 추가</a:t>
              </a:r>
              <a:r>
                <a:rPr lang="en-US" altLang="ko-KR" sz="1100" dirty="0"/>
                <a:t>, </a:t>
              </a:r>
              <a:r>
                <a:rPr lang="ko-KR" altLang="en-US" sz="1100" dirty="0"/>
                <a:t>이미지 삽입</a:t>
              </a:r>
              <a:r>
                <a:rPr lang="en-US" altLang="ko-KR" sz="1100" dirty="0"/>
                <a:t>, </a:t>
              </a:r>
              <a:r>
                <a:rPr lang="ko-KR" altLang="en-US" sz="1100" dirty="0"/>
                <a:t>링크 첨부까지 가능합니다</a:t>
              </a:r>
              <a:r>
                <a:rPr lang="en-US" altLang="ko-KR" sz="1100" dirty="0"/>
                <a:t>.</a:t>
              </a:r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73E3BDD-84D2-74C3-7C85-4EF85E6E4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6873" y="1989349"/>
              <a:ext cx="2547071" cy="3387771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795367B-BABA-A7EA-C80D-856182BC0B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32713" y="4906291"/>
              <a:ext cx="2547072" cy="1227739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B07D7EC-4C10-8618-11A0-EE2A679C8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47724" y="2555615"/>
              <a:ext cx="2708281" cy="1875485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987951B-C25D-312A-CB52-7A9D4A471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71128" y="3346388"/>
              <a:ext cx="2461473" cy="975445"/>
            </a:xfrm>
            <a:prstGeom prst="rect">
              <a:avLst/>
            </a:prstGeom>
          </p:spPr>
        </p:pic>
      </p:grpSp>
      <p:sp>
        <p:nvSpPr>
          <p:cNvPr id="6" name="Rectangle 2">
            <a:extLst>
              <a:ext uri="{FF2B5EF4-FFF2-40B4-BE49-F238E27FC236}">
                <a16:creationId xmlns:a16="http://schemas.microsoft.com/office/drawing/2014/main" id="{8AEE02C9-5EA0-7FFD-978D-BD554B411359}"/>
              </a:ext>
            </a:extLst>
          </p:cNvPr>
          <p:cNvSpPr/>
          <p:nvPr/>
        </p:nvSpPr>
        <p:spPr>
          <a:xfrm>
            <a:off x="457200" y="1379066"/>
            <a:ext cx="1097280" cy="381074"/>
          </a:xfrm>
          <a:prstGeom prst="rect">
            <a:avLst/>
          </a:prstGeom>
          <a:solidFill>
            <a:srgbClr val="3C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1600" dirty="0" err="1"/>
              <a:t>작품</a:t>
            </a:r>
            <a:r>
              <a:rPr sz="1600" dirty="0"/>
              <a:t> </a:t>
            </a:r>
            <a:r>
              <a:rPr sz="1600" dirty="0" err="1"/>
              <a:t>개요</a:t>
            </a:r>
            <a:endParaRPr sz="160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7E79815-3660-DDBD-F1B3-7CF9D8394698}"/>
              </a:ext>
            </a:extLst>
          </p:cNvPr>
          <p:cNvGrpSpPr/>
          <p:nvPr/>
        </p:nvGrpSpPr>
        <p:grpSpPr>
          <a:xfrm>
            <a:off x="871377" y="5974627"/>
            <a:ext cx="5419560" cy="2241924"/>
            <a:chOff x="2856051" y="1645920"/>
            <a:chExt cx="8357525" cy="4572000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5F69EE16-778E-F881-6D77-B8AFD7FB9601}"/>
                </a:ext>
              </a:extLst>
            </p:cNvPr>
            <p:cNvSpPr/>
            <p:nvPr/>
          </p:nvSpPr>
          <p:spPr>
            <a:xfrm>
              <a:off x="6614496" y="1645920"/>
              <a:ext cx="4599080" cy="4572000"/>
            </a:xfrm>
            <a:prstGeom prst="rect">
              <a:avLst/>
            </a:prstGeom>
            <a:solidFill>
              <a:srgbClr val="FFFF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800">
                  <a:solidFill>
                    <a:srgbClr val="282828"/>
                  </a:solidFill>
                </a:defRPr>
              </a:pPr>
              <a:r>
                <a:rPr lang="en-US" sz="1200" b="1" dirty="0"/>
                <a:t>2. </a:t>
              </a:r>
              <a:r>
                <a:rPr lang="en-US" sz="1200" b="1" dirty="0" err="1"/>
                <a:t>Chart.Js</a:t>
              </a:r>
              <a:r>
                <a:rPr lang="en-US" sz="1200" b="1" dirty="0"/>
                <a:t> </a:t>
              </a:r>
              <a:r>
                <a:rPr lang="ko-KR" altLang="en-US" sz="1200" b="1" dirty="0"/>
                <a:t>차트 시각화</a:t>
              </a:r>
              <a:endParaRPr lang="en-US" sz="1200" b="1" dirty="0"/>
            </a:p>
            <a:p>
              <a:pPr algn="ctr">
                <a:defRPr sz="1800">
                  <a:solidFill>
                    <a:srgbClr val="282828"/>
                  </a:solidFill>
                </a:defRPr>
              </a:pPr>
              <a:endParaRPr lang="en-US" sz="1200" b="1" dirty="0"/>
            </a:p>
            <a:p>
              <a:pPr algn="ctr">
                <a:defRPr sz="1800">
                  <a:solidFill>
                    <a:srgbClr val="282828"/>
                  </a:solidFill>
                </a:defRPr>
              </a:pPr>
              <a:r>
                <a:rPr lang="ko-KR" altLang="en-US" sz="1100" dirty="0"/>
                <a:t>항목별로 색상을 구분한</a:t>
              </a:r>
              <a:endParaRPr lang="en-US" sz="1100" dirty="0"/>
            </a:p>
            <a:p>
              <a:pPr algn="ctr">
                <a:defRPr sz="1800">
                  <a:solidFill>
                    <a:srgbClr val="282828"/>
                  </a:solidFill>
                </a:defRPr>
              </a:pPr>
              <a:r>
                <a:rPr lang="ko-KR" altLang="en-US" sz="1100" dirty="0"/>
                <a:t>막대 그래프를 기반으로 투표 결과를 </a:t>
              </a:r>
              <a:r>
                <a:rPr lang="ko-KR" altLang="en-US" sz="1100" dirty="0" err="1"/>
                <a:t>나타나여</a:t>
              </a:r>
              <a:endParaRPr lang="en-US" altLang="ko-KR" sz="1100" dirty="0"/>
            </a:p>
            <a:p>
              <a:pPr algn="ctr">
                <a:defRPr sz="1800">
                  <a:solidFill>
                    <a:srgbClr val="282828"/>
                  </a:solidFill>
                </a:defRPr>
              </a:pPr>
              <a:r>
                <a:rPr lang="ko-KR" altLang="en-US" sz="1100" dirty="0"/>
                <a:t>결과를 시각적으로 확인 가능하게 구현했습니다</a:t>
              </a:r>
              <a:r>
                <a:rPr lang="en-US" altLang="ko-KR" sz="1100" dirty="0"/>
                <a:t>.</a:t>
              </a:r>
              <a:endParaRPr lang="en-US" sz="1100" dirty="0"/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8C1FA327-062B-D39D-C5B1-02C2FC3A8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56051" y="2040202"/>
              <a:ext cx="3028410" cy="3783436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7C78B4C-1A88-9039-0268-128DE9CEAF36}"/>
              </a:ext>
            </a:extLst>
          </p:cNvPr>
          <p:cNvGrpSpPr/>
          <p:nvPr/>
        </p:nvGrpSpPr>
        <p:grpSpPr>
          <a:xfrm>
            <a:off x="667848" y="8255408"/>
            <a:ext cx="5623090" cy="2211275"/>
            <a:chOff x="1857269" y="1645920"/>
            <a:chExt cx="9572730" cy="4572000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9D6AEADB-8B4E-68ED-012E-2BB704B3F63F}"/>
                </a:ext>
              </a:extLst>
            </p:cNvPr>
            <p:cNvSpPr/>
            <p:nvPr/>
          </p:nvSpPr>
          <p:spPr>
            <a:xfrm>
              <a:off x="6352870" y="1645920"/>
              <a:ext cx="5077129" cy="4572000"/>
            </a:xfrm>
            <a:prstGeom prst="rect">
              <a:avLst/>
            </a:prstGeom>
            <a:solidFill>
              <a:srgbClr val="FFFF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800">
                  <a:solidFill>
                    <a:srgbClr val="282828"/>
                  </a:solidFill>
                </a:defRPr>
              </a:pPr>
              <a:r>
                <a:rPr lang="en-US" altLang="ko-KR" sz="1200" b="1" dirty="0"/>
                <a:t>3. </a:t>
              </a:r>
              <a:r>
                <a:rPr lang="ko-KR" altLang="en-US" sz="1200" b="1" dirty="0"/>
                <a:t>공동 순위 알고리즘</a:t>
              </a:r>
              <a:endParaRPr lang="en-US" altLang="ko-KR" sz="1200" b="1" dirty="0"/>
            </a:p>
            <a:p>
              <a:pPr algn="ctr">
                <a:defRPr sz="1800">
                  <a:solidFill>
                    <a:srgbClr val="282828"/>
                  </a:solidFill>
                </a:defRPr>
              </a:pPr>
              <a:endParaRPr lang="en-US" sz="1200" dirty="0"/>
            </a:p>
            <a:p>
              <a:pPr algn="ctr">
                <a:defRPr sz="1800">
                  <a:solidFill>
                    <a:srgbClr val="282828"/>
                  </a:solidFill>
                </a:defRPr>
              </a:pPr>
              <a:r>
                <a:rPr lang="ko-KR" altLang="en-US" sz="1100" dirty="0"/>
                <a:t>투표 결과 확인 시 같은 결과에 대해</a:t>
              </a:r>
              <a:endParaRPr lang="en-US" altLang="ko-KR" sz="1100" dirty="0"/>
            </a:p>
            <a:p>
              <a:pPr algn="ctr">
                <a:defRPr sz="1800">
                  <a:solidFill>
                    <a:srgbClr val="282828"/>
                  </a:solidFill>
                </a:defRPr>
              </a:pPr>
              <a:r>
                <a:rPr lang="ko-KR" altLang="en-US" sz="1100" dirty="0"/>
                <a:t>공동 순위를 매길 수 있게 알고리즘을</a:t>
              </a:r>
              <a:endParaRPr lang="en-US" altLang="ko-KR" sz="1100" dirty="0"/>
            </a:p>
            <a:p>
              <a:pPr algn="ctr">
                <a:defRPr sz="1800">
                  <a:solidFill>
                    <a:srgbClr val="282828"/>
                  </a:solidFill>
                </a:defRPr>
              </a:pPr>
              <a:r>
                <a:rPr lang="ko-KR" altLang="en-US" sz="1100" dirty="0"/>
                <a:t>설정하였습니다</a:t>
              </a:r>
              <a:r>
                <a:rPr lang="en-US" altLang="ko-KR" sz="1100" dirty="0"/>
                <a:t>.</a:t>
              </a:r>
            </a:p>
            <a:p>
              <a:pPr algn="ctr">
                <a:defRPr sz="1800">
                  <a:solidFill>
                    <a:srgbClr val="282828"/>
                  </a:solidFill>
                </a:defRPr>
              </a:pPr>
              <a:r>
                <a:rPr lang="ko-KR" altLang="en-US" sz="1100" dirty="0"/>
                <a:t>또한</a:t>
              </a:r>
              <a:r>
                <a:rPr lang="en-US" altLang="ko-KR" sz="1100" dirty="0"/>
                <a:t>, ‘</a:t>
              </a:r>
              <a:r>
                <a:rPr lang="ko-KR" altLang="en-US" sz="1100" dirty="0"/>
                <a:t>투표 초기화하기</a:t>
              </a:r>
              <a:r>
                <a:rPr lang="en-US" altLang="ko-KR" sz="1100" dirty="0"/>
                <a:t>’ </a:t>
              </a:r>
              <a:r>
                <a:rPr lang="ko-KR" altLang="en-US" sz="1100" dirty="0"/>
                <a:t>버튼을 눌러</a:t>
              </a:r>
              <a:endParaRPr lang="en-US" sz="1100" dirty="0"/>
            </a:p>
            <a:p>
              <a:pPr algn="ctr">
                <a:defRPr sz="1800">
                  <a:solidFill>
                    <a:srgbClr val="282828"/>
                  </a:solidFill>
                </a:defRPr>
              </a:pPr>
              <a:r>
                <a:rPr lang="ko-KR" altLang="en-US" sz="1100" dirty="0"/>
                <a:t>투표 초기화가 가능하여</a:t>
              </a:r>
              <a:r>
                <a:rPr lang="en-US" altLang="ko-KR" sz="1100" dirty="0"/>
                <a:t>, </a:t>
              </a:r>
              <a:r>
                <a:rPr lang="ko-KR" altLang="en-US" sz="1100" dirty="0"/>
                <a:t>기호에 따라 투표</a:t>
              </a:r>
              <a:endParaRPr lang="en-US" altLang="ko-KR" sz="1100" dirty="0"/>
            </a:p>
            <a:p>
              <a:pPr algn="ctr">
                <a:defRPr sz="1800">
                  <a:solidFill>
                    <a:srgbClr val="282828"/>
                  </a:solidFill>
                </a:defRPr>
              </a:pPr>
              <a:r>
                <a:rPr lang="ko-KR" altLang="en-US" sz="1100" dirty="0"/>
                <a:t>항목을 변경</a:t>
              </a:r>
              <a:r>
                <a:rPr lang="en-US" altLang="ko-KR" sz="1100" dirty="0"/>
                <a:t>/</a:t>
              </a:r>
              <a:r>
                <a:rPr lang="ko-KR" altLang="en-US" sz="1100" dirty="0"/>
                <a:t>삭제하여</a:t>
              </a:r>
              <a:endParaRPr lang="en-US" altLang="ko-KR" sz="1100" dirty="0"/>
            </a:p>
            <a:p>
              <a:pPr algn="ctr">
                <a:defRPr sz="1800">
                  <a:solidFill>
                    <a:srgbClr val="282828"/>
                  </a:solidFill>
                </a:defRPr>
              </a:pPr>
              <a:r>
                <a:rPr lang="ko-KR" altLang="en-US" sz="1100" dirty="0"/>
                <a:t>재투표를 진행할 수 있습니다</a:t>
              </a:r>
              <a:r>
                <a:rPr lang="en-US" altLang="ko-KR" sz="1100" dirty="0"/>
                <a:t>.</a:t>
              </a:r>
              <a:endParaRPr lang="en-US" sz="1100" dirty="0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0242FBF1-BEA0-E942-A091-F24874237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57269" y="1821592"/>
              <a:ext cx="3501696" cy="3987401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765EBDC-2DA2-A682-2419-889DB45A6B63}"/>
              </a:ext>
            </a:extLst>
          </p:cNvPr>
          <p:cNvSpPr txBox="1"/>
          <p:nvPr/>
        </p:nvSpPr>
        <p:spPr>
          <a:xfrm>
            <a:off x="4850566" y="1075077"/>
            <a:ext cx="1725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32207033 </a:t>
            </a:r>
            <a:r>
              <a:rPr lang="ko-KR" altLang="en-US" sz="1400" dirty="0"/>
              <a:t>강준형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5485353E-7AF6-7E8F-DABD-C830F15A3C0F}"/>
              </a:ext>
            </a:extLst>
          </p:cNvPr>
          <p:cNvSpPr/>
          <p:nvPr/>
        </p:nvSpPr>
        <p:spPr>
          <a:xfrm>
            <a:off x="351604" y="10960323"/>
            <a:ext cx="5939333" cy="784637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ko-KR" altLang="en-US" sz="1000" dirty="0"/>
              <a:t>투표 인원 수에 맞게 정확한 결과를</a:t>
            </a:r>
            <a:r>
              <a:rPr lang="en-US" altLang="ko-KR" sz="1000" dirty="0"/>
              <a:t> </a:t>
            </a:r>
            <a:r>
              <a:rPr lang="ko-KR" altLang="en-US" sz="1000" dirty="0"/>
              <a:t>보장하는 웹 서비스가 될 것으로 기대하고 있습니다</a:t>
            </a:r>
            <a:r>
              <a:rPr lang="en-US" altLang="ko-KR" sz="1000" dirty="0"/>
              <a:t>. </a:t>
            </a:r>
            <a:r>
              <a:rPr lang="ko-KR" altLang="en-US" sz="1000" dirty="0"/>
              <a:t>추후에는</a:t>
            </a:r>
            <a:r>
              <a:rPr lang="en-US" altLang="ko-KR" sz="1000" dirty="0"/>
              <a:t>, </a:t>
            </a:r>
            <a:r>
              <a:rPr lang="ko-KR" altLang="en-US" sz="1000" dirty="0"/>
              <a:t>사용자 인증 기반의 </a:t>
            </a:r>
            <a:r>
              <a:rPr lang="en-US" altLang="ko-KR" sz="1000" dirty="0"/>
              <a:t>1</a:t>
            </a:r>
            <a:r>
              <a:rPr lang="ko-KR" altLang="en-US" sz="1000" dirty="0"/>
              <a:t>인 </a:t>
            </a:r>
            <a:r>
              <a:rPr lang="en-US" altLang="ko-KR" sz="1000" dirty="0"/>
              <a:t>1</a:t>
            </a:r>
            <a:r>
              <a:rPr lang="ko-KR" altLang="en-US" sz="1000" dirty="0"/>
              <a:t>표 제한 시스템을 고안하여</a:t>
            </a:r>
            <a:r>
              <a:rPr lang="en-US" altLang="ko-KR" sz="1000" dirty="0"/>
              <a:t> </a:t>
            </a:r>
            <a:r>
              <a:rPr lang="ko-KR" altLang="en-US" sz="1000" dirty="0"/>
              <a:t>투표 보안을 강화하는 방법을 모색하겠습니다</a:t>
            </a:r>
            <a:r>
              <a:rPr lang="en-US" altLang="ko-KR" sz="1000" dirty="0"/>
              <a:t>.</a:t>
            </a:r>
            <a:endParaRPr sz="1000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28D0D094-7E78-1E03-BEA2-C4054AEFF76A}"/>
              </a:ext>
            </a:extLst>
          </p:cNvPr>
          <p:cNvSpPr/>
          <p:nvPr/>
        </p:nvSpPr>
        <p:spPr>
          <a:xfrm>
            <a:off x="351604" y="10636865"/>
            <a:ext cx="1975036" cy="375920"/>
          </a:xfrm>
          <a:prstGeom prst="rect">
            <a:avLst/>
          </a:prstGeom>
          <a:solidFill>
            <a:srgbClr val="3C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ko-KR" altLang="en-US" sz="1600" dirty="0"/>
              <a:t>기대효과 및 보완점</a:t>
            </a:r>
            <a:endParaRPr sz="16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B6B3EE3-C943-4502-9AB8-D013DD29F3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2799" y="11790901"/>
            <a:ext cx="2146263" cy="30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91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</TotalTime>
  <Words>205</Words>
  <Application>Microsoft Office PowerPoint</Application>
  <PresentationFormat>와이드스크린</PresentationFormat>
  <Paragraphs>27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준형 강</dc:creator>
  <cp:lastModifiedBy>준형 강</cp:lastModifiedBy>
  <cp:revision>5</cp:revision>
  <dcterms:created xsi:type="dcterms:W3CDTF">2026-04-04T03:06:56Z</dcterms:created>
  <dcterms:modified xsi:type="dcterms:W3CDTF">2026-04-04T03:33:25Z</dcterms:modified>
</cp:coreProperties>
</file>